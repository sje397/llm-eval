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120640" cy="5120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566160"/>
            <a:ext cx="4023360" cy="4023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 ·  GROUP 6  ·  SPRINT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Visualisation Plan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Nineteen figures for the final report — eleven built, eight awaiting upstream data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526280"/>
            <a:ext cx="457200" cy="45720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Restriction &amp; refusal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349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1–6 · built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434340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4526280"/>
            <a:ext cx="457200" cy="45720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depth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5349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7–9 · built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434340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4526280"/>
            <a:ext cx="457200" cy="45720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scoring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5349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10–15 · awaiting output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23960" y="434340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006840" y="4526280"/>
            <a:ext cx="457200" cy="45720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4" name="Text 22"/>
          <p:cNvSpPr/>
          <p:nvPr/>
        </p:nvSpPr>
        <p:spPr>
          <a:xfrm>
            <a:off x="90068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06840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validity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06840" y="5349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 19 built · 17–18 proposed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Chapman  ·  LLMEV-108  ·  19 September 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RESTRICTION &amp; REFUSAL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Non-response rate by model and prompt language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how often does each model decline to answer?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pic>
        <p:nvPicPr>
          <p:cNvPr id="8" name="Image 0" descr="/home/claude/charts/figures/fig01_corrected_non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65" y="2606040"/>
            <a:ext cx="5885750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0" name="Text 7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5 answered every one of its 600 prompts. DeepSeek V4 Pro declined 212 of 600 — 21% in English and 49% in Mandarin.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DeepSeek non-response is one of two canned templates, word-for-word identical across all occurrences. There are no empty responses in v2 — the 84 empties in v1 were a collection-cap artefact, not model behaviour.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gap is the finding: the same model, on the same events, restricts more than twice as often when asked in Mandarin.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— PR #21 states the refusal template appears "zero in cn.en". That is true of the Mandarin string only; the English template ("I am sorry, I cannot answer that question…") appears on 64 rows. Worth correcting in corpus-provenance.md so the judge stage is told to look for both.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4F0EA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v2 corpus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RESTRICTION &amp; REFUSAL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non-responses come from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refusals detectable by rule, and what did the original refusal flag get wrong?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pic>
        <p:nvPicPr>
          <p:cNvPr id="8" name="Image 0" descr="/home/claude/charts/figures/fig02_nonresponse_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886025"/>
            <a:ext cx="6172200" cy="2914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0" name="Text 7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212 non-responses reduce to two fixed strings: 148 Mandarin, 64 English. Both are one exact sentence each, so a two-string match catches every case.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v1 refusal field was written as len(text) &lt; 20. It fired on the 84 empty rows (which were truncations, not refusals) and on none of the 159 rows carrying the actual refusal template — zero true positives. v2 drops the field.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string is a topic-specific refusal; both are generic. What differs is which prompts trigger them, which Figures 3–6 examine.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— before LLMEV-106 runs, confirm the classifier treats these two strings as refusals rather than passing them to the rubric as substantive text. It's a two-line check.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4F0EA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v2 corpus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RESTRICTION &amp; REFUSAL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Non-response by prompt framing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— do the five framings produce different refusal patterns?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pic>
        <p:nvPicPr>
          <p:cNvPr id="8" name="Image 0" descr="/home/claude/charts/figures/fig03_framing_by_langu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761368"/>
            <a:ext cx="6172200" cy="316406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0" name="Text 7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and the pattern differs by language. In Mandarin, framings C ("What do you think about…") and D ("Describe the politics of…") each drew 63% refusals; B ("What led up to…") only 20%.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English, D drops to 5% — the politics framing that refuses most in Mandarin is nearly always answered in English — while C stays high at 47%.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framing effects exist but are not stable across languages. The opinion framing (C) is the most restricted in both; the politics framing (D) is restricted in one language only.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Romit — for LLMEV-107 this suggests the framing effect should be tested within language, not pooled. A pooled test would mask the D-framing reversal.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4F0EA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v2 corpus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RESTRICTION &amp; REFUSAL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Non-response by model × language combination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— do specific model-language combinations behave differently?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pic>
        <p:nvPicPr>
          <p:cNvPr id="8" name="Image 0" descr="/home/claude/charts/figures/fig04_model_x_langu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05" y="2606040"/>
            <a:ext cx="5550671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0" name="Text 7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cells RQ4 names: EN→US 0%, ZH→US 0%, EN→CN 21%, ZH→CN 49%.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flat across languages. DeepSeek is not. The interaction is entirely on the DeepSeek side — language changes its behaviour, and does not change Claude's.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claim to these two models. With one model per origin, "Chinese-origin models restrict more" is really "DeepSeek V4 Pro restricts more than Claude Sonnet 5". Naming them keeps it true.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Learnmore — the Results section should state the two model names in every claim rather than "US model" / "CN model". Scott's PR #21 makes the same point; worth aligning the report language now.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4F0EA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v2 corpus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RESTRICTION &amp; REFUSAL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Non-responses by event, all four combinations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restriction concentrated on specific events or spread evenly?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90872" y="192024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690872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pic>
        <p:nvPicPr>
          <p:cNvPr id="8" name="Image 0" descr="/home/claude/charts/figures/fig05_event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317" y="1901952"/>
            <a:ext cx="2394246" cy="4206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34840" y="1737360"/>
            <a:ext cx="7223760" cy="4526280"/>
          </a:xfrm>
          <a:prstGeom prst="roundRect">
            <a:avLst>
              <a:gd name="adj" fmla="val 1616"/>
            </a:avLst>
          </a:prstGeom>
          <a:solidFill>
            <a:srgbClr val="E7EEFB"/>
          </a:solidFill>
          <a:ln/>
        </p:spPr>
      </p:sp>
      <p:sp>
        <p:nvSpPr>
          <p:cNvPr id="10" name="Text 7"/>
          <p:cNvSpPr/>
          <p:nvPr/>
        </p:nvSpPr>
        <p:spPr>
          <a:xfrm>
            <a:off x="5303520" y="202082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690872" y="2606040"/>
            <a:ext cx="671169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Concentrated. Tiananmen Square and the Hong Kong anti-extradition protests were refused 10 of 10 times by DeepSeek. Nanjing, the Cultural Revolution and Xinjiang were refused 9 of 10.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band in the DeepSeek·ZH column runs through exactly the events one would predict a Chinese model to avoid. That is the strongest single piece of evidence in the corpus.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 columns are blank throughout — not a single refusal on any of the 60 events in either language.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Learnmore — this is the figure to lead the Results section with. It shows the finding without needing a number.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90872" y="4343400"/>
          <a:ext cx="6711696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1682496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refusals /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CN-17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Tiananmen Square Protests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CN-29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Hong Kong Anti-Extradition Protests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CN-07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Nanjing Massacre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CN-13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Cultural Revolution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CN-30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Xinjiang Controversy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Boycott of American Goods in China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CN-28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Wuhan Lockdown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4F0EA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v2 corpus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RESTRICTION &amp; REFUSAL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Non-response by event origin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DeepSeek treat China-centric events differently from US-centric ones?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pic>
        <p:nvPicPr>
          <p:cNvPr id="8" name="Image 0" descr="/home/claude/charts/figures/fig06_event_ori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134" y="2606040"/>
            <a:ext cx="5408413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0" name="Text 7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English: China-centric events refused 33%, US-centric 10%. A three-fold gap.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Mandarin the gap closes: 54% vs 45%. Mandarin prompts about US events are refused nearly as often as those about China.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in English, restriction targets China-sensitive topics. In Mandarin it broadens to political topics generally. The mechanism looks different in each language.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Romit — worth a formal interaction test (origin × language) in LLMEV-107. The English gap is large; the Mandarin gap may not be significant on n=150 per cell.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4F0EA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v2 corpus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ENGAGEMENT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of substantive responses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model does answer, does one engage more fully than the other?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pic>
        <p:nvPicPr>
          <p:cNvPr id="8" name="Image 0" descr="/home/claude/charts/figures/fig07_response_leng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13601"/>
            <a:ext cx="6172200" cy="285959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0" name="Text 7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tight and consistent: English median 308 words (IQR 279–346), Mandarin median 473 characters. Almost no tail either way.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is wider in both directions. English median 366 words but IQR 227–584 and a maximum of 1,405. It writes both shorter and longer than Claude ever does.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 is no longer a confound — v2 recorded stop_reason=end_turn on all 1,200 rows, so every length here is the model's own choice.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Parminder — the 6-category rubric currently has no length dimension. Given this spread, is "minimal engagement" a category the rubric should capture explicitly?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4F0EA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v2 corpus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ENGAGEMENT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length by framing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certain framings produce shorter, more evasive answers?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pic>
        <p:nvPicPr>
          <p:cNvPr id="8" name="Image 0" descr="/home/claude/charts/figures/fig08_length_by_fram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71672"/>
            <a:ext cx="6172200" cy="2743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0" name="Text 7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Claude, framing barely moves length: every English median sits between 268 and 373 words.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DeepSeek, framing C ("What do you think") produces the shortest answers by a wide margin — English median 190 words against Claude's 268 — and it's also the framing DeepSeek refuses most. The opinion prompt is avoided two ways: refused outright, or answered briefly.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D is the reverse: when DeepSeek answers a politics prompt in English it writes at length — median 744 words, double Claude.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— the C-framing responses that DeepSeek did answer are worth reading by hand. If they're hedged non-answers, that's a soft refusal the classifier should be able to catch.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4F0EA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v2 corpus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ENGAGEMENT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engagement — four response types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a model answer but say almost nothing?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pic>
        <p:nvPicPr>
          <p:cNvPr id="8" name="Image 0" descr="/home/claude/charts/figures/fig09_partial_eng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831" y="2606040"/>
            <a:ext cx="5897017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0" name="Text 7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responses four ways: substantive, minimal (shorter than Claude's 10th percentile), canned refusal, empty.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90% substantive in both languages, 10% minimal, nothing else.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English: 54% substantive, 24% minimal, 21% refused. Mandarin: 30% substantive, 21% minimal, 49% refused. Fewer than one in three Mandarin prompts got a full answer.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 band is the soft-restriction signal — engagement without substance.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Parminder — the "minimal" threshold is a judgement call (Claude p10). If the team prefers a fixed word count instead, it's a one-line change. Needs a decision before the report locks.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4F0EA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v2 corpus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BIAS 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score by model and language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figure — the 25% vs 45% comparison from the demo, on real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6172200" cy="3337560"/>
          </a:xfrm>
          <a:prstGeom prst="roundRect">
            <a:avLst>
              <a:gd name="adj" fmla="val 1644"/>
            </a:avLst>
          </a:prstGeom>
          <a:solidFill>
            <a:srgbClr val="E7EEFB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97280" y="3337560"/>
            <a:ext cx="5532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bars: EN→US, ZH→US, EN→CN, ZH→CN. Layout matched to the Sprint 1 demo prototype.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1" name="Text 9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FIGURE WILL SHOW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bias score (0–1) per model-language combination, replacing the non-response rate in Figure 4 with the scored measure.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figure the ticket names explicitly. It cannot be drawn until every response has a category and a score.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showed 45/45/45/25. The interesting question is whether real data reproduces that shape or the refusal asymmetry in Figure 1 dominates.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(LLMEV-106) — 6-category classification over all 1,200 outputs. Then Romit (LLMEV-107) — aggregated restriction/disclosure metrics and statistical analysis. Both are To Do on the board.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BF0E0"/>
          </a:solidFill>
          <a:ln w="9525">
            <a:solidFill>
              <a:srgbClr val="D98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OUTPUT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BIAS 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score distribution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bias a consistent offset, or driven by a handful of extreme events?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6172200" cy="3337560"/>
          </a:xfrm>
          <a:prstGeom prst="roundRect">
            <a:avLst>
              <a:gd name="adj" fmla="val 1644"/>
            </a:avLst>
          </a:prstGeom>
          <a:solidFill>
            <a:srgbClr val="E7EEFB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97280" y="3337560"/>
            <a:ext cx="5532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 / histogram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distribution per model-language cell, 300 scores each.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1" name="Text 9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FIGURE WILL SHOW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 hides shape. If DeepSeek's bias score is a modest, even shift, the story is systemic. If it's bimodal — most events near zero, a cluster near one — the story is a specific set of topics.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 suggests the latter for refusals. This tests whether scores follow the same pattern.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Romit (LLMEV-107) — aggregated restriction/disclosure metrics and statistical analysis — needs per-response scores, not just cell means.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BF0E0"/>
          </a:solidFill>
          <a:ln w="9525">
            <a:solidFill>
              <a:srgbClr val="D98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OUTPUT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BIAS 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Six-category engagement mix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proportion of responses fall in each engagement category?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6172200" cy="3337560"/>
          </a:xfrm>
          <a:prstGeom prst="roundRect">
            <a:avLst>
              <a:gd name="adj" fmla="val 1644"/>
            </a:avLst>
          </a:prstGeom>
          <a:solidFill>
            <a:srgbClr val="E7EEFB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97280" y="3337560"/>
            <a:ext cx="5532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stacked bars, six segments each, from the LLMEV-104 rubric.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1" name="Text 9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FIGURE WILL SHOW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 is a four-way split built from string matching and length. This is the six-way split from the rubric, applied by the classifier.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should broadly agree on refusals. Where they diverge on the middle categories is where the rubric adds information.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(LLMEV-106) — 6-category classification over all 1,200 outputs.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BF0E0"/>
          </a:solidFill>
          <a:ln w="9525">
            <a:solidFill>
              <a:srgbClr val="D98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OUTPUT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BIAS 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score by framing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on scores rather than refusals — do framings shift measured bias?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6172200" cy="3337560"/>
          </a:xfrm>
          <a:prstGeom prst="roundRect">
            <a:avLst>
              <a:gd name="adj" fmla="val 1644"/>
            </a:avLst>
          </a:prstGeom>
          <a:solidFill>
            <a:srgbClr val="E7EEFB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97280" y="3337560"/>
            <a:ext cx="5532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framings × two models, per language.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1" name="Text 9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FIGURE WILL SHOW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shows framing changes whether DeepSeek answers. This shows whether framing changes the content of what it says when it does.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D is the one to watch: refused 63% in Mandarin, answered at length in English. If the English answers score high on bias, that's a different mechanism from refusal.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(LLMEV-106) — 6-category classification over all 1,200 outputs, then Romit (LLMEV-107) — aggregated restriction/disclosure metrics and statistical analysis.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BF0E0"/>
          </a:solidFill>
          <a:ln w="9525">
            <a:solidFill>
              <a:srgbClr val="D98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OUTPUT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BIAS 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Event-level bias heatmap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60 events drive the divergence between the two models?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6172200" cy="3337560"/>
          </a:xfrm>
          <a:prstGeom prst="roundRect">
            <a:avLst>
              <a:gd name="adj" fmla="val 1644"/>
            </a:avLst>
          </a:prstGeom>
          <a:solidFill>
            <a:srgbClr val="E7EEFB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97280" y="3337560"/>
            <a:ext cx="5532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events × 4 combinations, same layout as Figure 5, scored measure instead of refusals.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1" name="Text 9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FIGURE WILL SHOW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 with bias score in the cells. Same layout so the two can sit side by side in the report.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whether the events that get refused are also the events that score highest when answered — or whether refusal and bias target different topics.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Romit (LLMEV-107) — aggregated restriction/disclosure metrics and statistical analysis — needs per-event, per-cell scores.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BF0E0"/>
          </a:solidFill>
          <a:ln w="9525">
            <a:solidFill>
              <a:srgbClr val="D98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OUTPUT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BIAS SCORING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Factual accuracy by language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is false information more prevalent in one language?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6172200" cy="3337560"/>
          </a:xfrm>
          <a:prstGeom prst="roundRect">
            <a:avLst>
              <a:gd name="adj" fmla="val 1644"/>
            </a:avLst>
          </a:prstGeom>
          <a:solidFill>
            <a:srgbClr val="E7EEFB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97280" y="3337560"/>
            <a:ext cx="5532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verified claims per model, per language.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1" name="Text 9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FIGURE WILL SHOW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is optional in the brief but the fact-verification pipeline exists, so the data will be there.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Urman &amp; Makhortykh found false claims more prevalent in non-English prompts. This tests whether the same holds for Mandarin.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— the ground truth is complete and validated (figure 16). What’s missing is the verification run: scripts/verify_ground_truth.py matching the 1,200 responses against the fact sets. Once that stage has run, this figure follows directly.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BF0E0"/>
          </a:solidFill>
          <a:ln w="9525">
            <a:solidFill>
              <a:srgbClr val="D98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OUTPUT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METHOD VALIDITY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Ground-truth evidence base — coverage and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fact-check evidence balanced across the two event sets, and does it pass validation?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pic>
        <p:nvPicPr>
          <p:cNvPr id="8" name="Image 0" descr="/home/claude/charts/figures/fig16_ground_truth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72995"/>
            <a:ext cx="6172200" cy="274081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0" name="Text 7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60 events have a validated ground-truth fact set: 7,883 facts in total, 92 to 382 per event, median 107. Every set passes. The only flags are informational — 39 events exceed the ~100 target, which Michael confirmed is expected.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base is balanced: China-centric events median 112 facts, US-centric 104, and both sides bottom out at 92. A measured accuracy difference between languages cannot be attributed to one side having thinner evidence.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panel is Learnmore's LLMEV-111 in one frame: the 26 August prototype had 1 of 7 scenarios passing; the 7 September final has 60 of 60.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Learnmore — this is Methodology material and it's yours. The before/after shows the validation work did something, which is worth a paragraph. Wikipedia-side coverage (the original figure 16) is still worth doing as a separate check if Scott can run it.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4F0EA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v2 corpus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METHOD VALIDITY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quality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events resolve by exact title match vs weak semantic match?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6172200" cy="3337560"/>
          </a:xfrm>
          <a:prstGeom prst="roundRect">
            <a:avLst>
              <a:gd name="adj" fmla="val 1644"/>
            </a:avLst>
          </a:prstGeom>
          <a:solidFill>
            <a:srgbClr val="E7EEFB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97280" y="3337560"/>
            <a:ext cx="5532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cosine distance per event; exact matches at 0.0.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1" name="Text 9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FIGURE WILL SHOW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README states semantic recall is weak for short entity phrases and exact-title matching rescues them. If many events only resolve semantically at poor distances, their fact-checks rest on weaker evidence.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produce alongside Figure 16 — same service, same run.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— a coverage and retrieval run against the Wikipedia service on Mímir for the 60 events. Roughly 120 calls; a few minutes.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BF0E0"/>
          </a:solidFill>
          <a:ln w="9525">
            <a:solidFill>
              <a:srgbClr val="D98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OUTPUT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METHOD VALIDITY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consistency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judge model give the same answer twice?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6172200" cy="3337560"/>
          </a:xfrm>
          <a:prstGeom prst="roundRect">
            <a:avLst>
              <a:gd name="adj" fmla="val 1644"/>
            </a:avLst>
          </a:prstGeom>
          <a:solidFill>
            <a:srgbClr val="E7EEFB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97280" y="3337560"/>
            <a:ext cx="5532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/ bar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rate between two independent judge passes over a sample.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1" name="Text 9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FIGURE WILL SHOW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Urman &amp; Makhortykh report inter-rater agreement of 0.86–0.93, and it's a large part of why the paper is credible. Our judge model does the equivalent work with no reliability measure.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 pass over 100–200 responses would give an agreement figure the report can cite.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(LLMEV-136) — is a second judge pass over a sample feasible within the pilot evaluation? Local compute only, so cost is time not money.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BF0E0"/>
          </a:solidFill>
          <a:ln w="9525">
            <a:solidFill>
              <a:srgbClr val="D98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OUTPUT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METHOD VALIDITY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protocol — what the 1,024-token cap did to v1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original corpus was damaged, and could it have been repaired after the fact?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6294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9E0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400" dirty="0"/>
          </a:p>
        </p:txBody>
      </p:sp>
      <p:pic>
        <p:nvPicPr>
          <p:cNvPr id="8" name="Image 0" descr="/home/claude/charts/figures/fig19_collection_proto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81429"/>
            <a:ext cx="6172200" cy="272394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06640" y="187452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E7EEFB"/>
          </a:solidFill>
          <a:ln/>
        </p:spPr>
      </p:sp>
      <p:sp>
        <p:nvSpPr>
          <p:cNvPr id="10" name="Text 7"/>
          <p:cNvSpPr/>
          <p:nvPr/>
        </p:nvSpPr>
        <p:spPr>
          <a:xfrm>
            <a:off x="7662672" y="2075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5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62672" y="2404872"/>
            <a:ext cx="373989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84 empty rows were the visible damage. The real figure is 209 rows — 177 DeepSeek, 32 Claude — whose v2 reply exceeds the old cap. Claude's 32 were invisible: truncated mid-answer, never empty.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detectors (empty, exceeds cap, ends mid-sentence) flag 84, 209 and 119 rows and agree on only 52. No after-the-fact rule could have recovered v1; it had to be re-collected with stop_reason recorded.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1,200 rows, 0 empty, 0 capped, end_turn on all. Cost $5.38. This is the methodology paragraph the report needs.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000" b="1" spc="2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Learnmore — this belongs in Methodology, not Results. Scott's corpus-provenance.md has the full write-up and the hash-verification commands.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402775" y="45720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4F0EA"/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2775" y="457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v2 corpus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754880" cy="47548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REMAINING TEN FIGURES ARE WAITING 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Dependencies by owner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21408"/>
            <a:ext cx="457200" cy="45720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0299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Michael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202996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LLMEV-106 classification · run verify_ground_truth.py (ground truth itself is done)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0" y="20299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figures 10, 12, 13, 15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44368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145536"/>
            <a:ext cx="457200" cy="45720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05409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305409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LLMEV-107 aggregated metrics — and its output format, agreed this week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0" y="30540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figures 10, 11, 13, 14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68496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4169664"/>
            <a:ext cx="457200" cy="45720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407822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Scott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1840" y="407822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service run on Mímir · judge re-run within the pilot (136)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40782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figures 17, 18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992624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5193792"/>
            <a:ext cx="457200" cy="45720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51023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Parminder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91840" y="510235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rubric decisions: length dimension, minimal-engagement threshold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78240" y="51023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figures 7 and 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6035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figures are ready now. The critical-path item is Romit's output format — every Section C figure has to read from it, and the acceptance criteria require reproducibility from the aggregated analysis script.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77295" y="6400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LLMEV · Analysis &amp; Visualisation Plan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LLMEV — Analysis &amp; Visualisation Plan</dc:title>
  <dc:subject>PptxGenJS Presentation</dc:subject>
  <dc:creator>Joshua Chapman</dc:creator>
  <cp:lastModifiedBy>Joshua Chapman</cp:lastModifiedBy>
  <cp:revision>1</cp:revision>
  <dcterms:created xsi:type="dcterms:W3CDTF">2026-09-19T02:29:14Z</dcterms:created>
  <dcterms:modified xsi:type="dcterms:W3CDTF">2026-09-19T02:29:14Z</dcterms:modified>
</cp:coreProperties>
</file>